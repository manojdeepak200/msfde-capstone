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C2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UC007 · Claims Processing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86069"/>
                </a:solidFill>
              </a:defRPr>
            </a:pPr>
            <a:r>
              <a:t>Capstone presentation | End-to-end evidence, policy checks, and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219456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5 / 5</a:t>
            </a:r>
          </a:p>
          <a:p>
            <a:pPr algn="ctr">
              <a:defRPr sz="1100">
                <a:solidFill>
                  <a:srgbClr val="586069"/>
                </a:solidFill>
              </a:defRPr>
            </a:pPr>
            <a:r>
              <a:t>Claims fully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219456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45 / 45</a:t>
            </a:r>
          </a:p>
          <a:p>
            <a:pPr algn="ctr">
              <a:defRPr sz="1100">
                <a:solidFill>
                  <a:srgbClr val="586069"/>
                </a:solidFill>
              </a:defRPr>
            </a:pPr>
            <a:r>
              <a:t>Extraction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926080"/>
            <a:ext cx="219456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586069"/>
                </a:solidFill>
              </a:defRPr>
            </a:pPr>
            <a:r>
              <a:t>Safety violations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2926080"/>
            <a:ext cx="219456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66CC"/>
                </a:solidFill>
              </a:defRPr>
            </a:pPr>
            <a:r>
              <a:t>7</a:t>
            </a:r>
          </a:p>
          <a:p>
            <a:pPr algn="ctr">
              <a:defRPr sz="1100">
                <a:solidFill>
                  <a:srgbClr val="586069"/>
                </a:solidFill>
              </a:defRPr>
            </a:pPr>
            <a:r>
              <a:t>Key decision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86069"/>
                </a:solidFill>
              </a:defRPr>
            </a:pPr>
            <a:r>
              <a:t>Built for Contoso Insurance motor claims: evidence -&gt; extraction -&gt; rules -&gt; grounded summary -&gt; human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Claims handlers need audit-ready evidence, not a black-box verdict.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C2245"/>
                </a:solidFill>
              </a:defRPr>
            </a:pPr>
            <a:r>
              <a:t>• Mixed evidence: claim forms, police reports, repair estimates, customer statements, policy schedules, and photos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• Claims must be checked against policy rules and not decided by guesswork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• A handler needs traceable evidence and a safe recommendation boundary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• Fraud and policy exceptions must be surfaced early without inventing conclusions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• The business goal is faster, more consistent, auditable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463040"/>
            <a:ext cx="4389120" cy="25603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C2245"/>
                </a:solidFill>
              </a:defRPr>
            </a:pPr>
            <a:r>
              <a:t>Outcome delivered</a:t>
            </a:r>
          </a:p>
          <a:p>
            <a:pPr>
              <a:defRPr sz="1500" b="0">
                <a:solidFill>
                  <a:srgbClr val="586069"/>
                </a:solidFill>
              </a:defRPr>
            </a:pPr>
            <a:r>
              <a:t>• Human-safe workflow</a:t>
            </a:r>
          </a:p>
          <a:p>
            <a:pPr>
              <a:defRPr sz="1500" b="0">
                <a:solidFill>
                  <a:srgbClr val="586069"/>
                </a:solidFill>
              </a:defRPr>
            </a:pPr>
            <a:r>
              <a:t>• Auditable source links</a:t>
            </a:r>
          </a:p>
          <a:p>
            <a:pPr>
              <a:defRPr sz="1500" b="0">
                <a:solidFill>
                  <a:srgbClr val="586069"/>
                </a:solidFill>
              </a:defRPr>
            </a:pPr>
            <a:r>
              <a:t>• Policy-grounded explanations</a:t>
            </a:r>
          </a:p>
          <a:p>
            <a:pPr>
              <a:defRPr sz="1500" b="0">
                <a:solidFill>
                  <a:srgbClr val="586069"/>
                </a:solidFill>
              </a:defRPr>
            </a:pPr>
            <a:r>
              <a:t>• Recommendations: proceed / request_information / refer</a:t>
            </a:r>
          </a:p>
          <a:p>
            <a:pPr>
              <a:defRPr sz="1500" b="0">
                <a:solidFill>
                  <a:srgbClr val="586069"/>
                </a:solidFill>
              </a:defRPr>
            </a:pPr>
            <a:r>
              <a:t>• No unsafe approve/decline/payment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Evidence in -&gt; structured findings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73736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C2245"/>
                </a:solidFill>
              </a:defRPr>
            </a:pPr>
            <a:r>
              <a:t>1. Intake</a:t>
            </a:r>
          </a:p>
          <a:p>
            <a:pPr>
              <a:defRPr sz="1200">
                <a:solidFill>
                  <a:srgbClr val="586069"/>
                </a:solidFill>
              </a:defRPr>
            </a:pPr>
            <a:r>
              <a:t>Claim PDFs + photos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1828800"/>
            <a:ext cx="173736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C2245"/>
                </a:solidFill>
              </a:defRPr>
            </a:pPr>
            <a:r>
              <a:t>2. Extraction</a:t>
            </a:r>
          </a:p>
          <a:p>
            <a:pPr>
              <a:defRPr sz="1200">
                <a:solidFill>
                  <a:srgbClr val="586069"/>
                </a:solidFill>
              </a:defRPr>
            </a:pPr>
            <a:r>
              <a:t>Content Understanding analyzers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173736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C2245"/>
                </a:solidFill>
              </a:defRPr>
            </a:pPr>
            <a:r>
              <a:t>3. Photo analysis</a:t>
            </a:r>
          </a:p>
          <a:p>
            <a:pPr>
              <a:defRPr sz="1200">
                <a:solidFill>
                  <a:srgbClr val="586069"/>
                </a:solidFill>
              </a:defRPr>
            </a:pPr>
            <a:r>
              <a:t>Visible damage + repair 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173736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0C2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C2245"/>
                </a:solidFill>
              </a:defRPr>
            </a:pPr>
            <a:r>
              <a:t>4. Rules engine</a:t>
            </a:r>
          </a:p>
          <a:p>
            <a:pPr>
              <a:defRPr sz="1200">
                <a:solidFill>
                  <a:srgbClr val="586069"/>
                </a:solidFill>
              </a:defRPr>
            </a:pPr>
            <a:r>
              <a:t>Dates, mismatches, cover, authority, policy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173736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C2245"/>
                </a:solidFill>
              </a:defRPr>
            </a:pPr>
            <a:r>
              <a:t>5. Grounded agent</a:t>
            </a:r>
          </a:p>
          <a:p>
            <a:pPr>
              <a:defRPr sz="1200">
                <a:solidFill>
                  <a:srgbClr val="586069"/>
                </a:solidFill>
              </a:defRPr>
            </a:pPr>
            <a:r>
              <a:t>Policy KB + summary + recommendation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0" y="1828800"/>
            <a:ext cx="1737360" cy="1645920"/>
          </a:xfrm>
          <a:prstGeom prst="rect">
            <a:avLst/>
          </a:prstGeom>
          <a:solidFill>
            <a:srgbClr val="F5F7FA"/>
          </a:solidFill>
          <a:ln>
            <a:solidFill>
              <a:srgbClr val="586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C2245"/>
                </a:solidFill>
              </a:defRPr>
            </a:pPr>
            <a:r>
              <a:t>6. Human handler</a:t>
            </a:r>
          </a:p>
          <a:p>
            <a:pPr>
              <a:defRPr sz="1200">
                <a:solidFill>
                  <a:srgbClr val="586069"/>
                </a:solidFill>
              </a:defRPr>
            </a:pPr>
            <a:r>
              <a:t>Accept / amend / reject with note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3474720"/>
            <a:ext cx="36576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06240" y="3474720"/>
            <a:ext cx="36576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26480" y="3474720"/>
            <a:ext cx="36576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3474720"/>
            <a:ext cx="36576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474720"/>
            <a:ext cx="36576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What was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The core project modules and their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C2245"/>
                </a:solidFill>
              </a:defRPr>
            </a:pPr>
            <a:r>
              <a:t>• backend/analyzers.py: claim form schema with structured extraction fields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backend/vision.py: conservative photo assessment instructions and repair-band mapping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backend/validation.py: date, damage-location, and estimate-vs-photo checks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backend/claims_agent.py: grounded agent instructions with safety boundary and recommendation precedence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backend/pipeline.py: orchestrates extraction, validation, photo assessment, and review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backend/api.py + store.py: service and decision tracking for the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554480"/>
            <a:ext cx="4389120" cy="2194560"/>
          </a:xfrm>
          <a:prstGeom prst="rect">
            <a:avLst/>
          </a:prstGeom>
          <a:solidFill>
            <a:srgbClr val="F5F7FA"/>
          </a:solidFill>
          <a:ln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C2245"/>
                </a:solidFill>
              </a:defRPr>
            </a:pPr>
            <a:r>
              <a:t>Rules are deterministic</a:t>
            </a:r>
          </a:p>
          <a:p>
            <a:pPr>
              <a:defRPr sz="1700" b="0">
                <a:solidFill>
                  <a:srgbClr val="0C2245"/>
                </a:solidFill>
              </a:defRPr>
            </a:pPr>
            <a:r>
              <a:t>Policy references are explicit</a:t>
            </a:r>
          </a:p>
          <a:p>
            <a:pPr>
              <a:defRPr sz="1700" b="0">
                <a:solidFill>
                  <a:srgbClr val="0C2245"/>
                </a:solidFill>
              </a:defRPr>
            </a:pPr>
            <a:r>
              <a:t>Human review remains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Policy and risk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The rules are deterministic and evidence-based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C2245"/>
                </a:solidFill>
              </a:defRPr>
            </a:pPr>
            <a:r>
              <a:t>• DATE_MISMATCH: documents disagree on loss date (CIP-CLM-200 section 2.1)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VEHICLE_MISMATCH: VIN or plate differs across sources (section 2.2)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DAMAGE_LOCATION_MISMATCH: described damage conflicts with other evidence (section 2.3)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COVER_NOT_IN_FORCE: loss falls outside policy period (CIP-POL-100 section 1.1)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EXCEEDS_AUTHORITY: estimate exceeds handler authority limit (section 3)</a:t>
            </a:r>
          </a:p>
          <a:p>
            <a:pPr>
              <a:defRPr sz="1700">
                <a:solidFill>
                  <a:srgbClr val="0C2245"/>
                </a:solidFill>
              </a:defRPr>
            </a:pPr>
            <a:r>
              <a:t>• ESTIMATE_EVIDENCE_MISMATCH: repair estimate exceeds visible photo damage band (CIP-CLM-220 section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554480"/>
            <a:ext cx="4297680" cy="2377440"/>
          </a:xfrm>
          <a:prstGeom prst="rect">
            <a:avLst/>
          </a:prstGeom>
          <a:solidFill>
            <a:srgbClr val="F5F7FA"/>
          </a:solidFill>
          <a:ln>
            <a:solidFill>
              <a:srgbClr val="00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C2245"/>
                </a:solidFill>
              </a:defRPr>
            </a:pPr>
            <a:r>
              <a:t>Safety rule</a:t>
            </a:r>
          </a:p>
          <a:p>
            <a:pPr>
              <a:defRPr sz="1600" b="0">
                <a:solidFill>
                  <a:srgbClr val="0C2245"/>
                </a:solidFill>
              </a:defRPr>
            </a:pPr>
            <a:r>
              <a:t>Never approve / decline / pay</a:t>
            </a:r>
          </a:p>
          <a:p>
            <a:pPr>
              <a:defRPr sz="1600" b="0">
                <a:solidFill>
                  <a:srgbClr val="0C2245"/>
                </a:solidFill>
              </a:defRPr>
            </a:pPr>
            <a:r>
              <a:t>Always recommend proceed / request_information / refer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Verified against the ground truth in the lab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30175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45 / 45</a:t>
            </a:r>
          </a:p>
          <a:p>
            <a:pPr>
              <a:defRPr sz="1100">
                <a:solidFill>
                  <a:srgbClr val="586069"/>
                </a:solidFill>
              </a:defRPr>
            </a:pPr>
            <a:r>
              <a:t>Extraction accuracy</a:t>
            </a:r>
          </a:p>
          <a:p>
            <a:pPr>
              <a:defRPr sz="1000">
                <a:solidFill>
                  <a:srgbClr val="586069"/>
                </a:solidFill>
              </a:defRPr>
            </a:pPr>
            <a:r>
              <a:t>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737360"/>
            <a:ext cx="30175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10 / 10</a:t>
            </a:r>
          </a:p>
          <a:p>
            <a:pPr>
              <a:defRPr sz="1100">
                <a:solidFill>
                  <a:srgbClr val="586069"/>
                </a:solidFill>
              </a:defRPr>
            </a:pPr>
            <a:r>
              <a:t>Findings detected</a:t>
            </a:r>
          </a:p>
          <a:p>
            <a:pPr>
              <a:defRPr sz="1000">
                <a:solidFill>
                  <a:srgbClr val="586069"/>
                </a:solidFill>
              </a:defRPr>
            </a:pPr>
            <a:r>
              <a:t>0 spurious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1737360"/>
            <a:ext cx="30175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5 / 5</a:t>
            </a:r>
          </a:p>
          <a:p>
            <a:pPr>
              <a:defRPr sz="1100">
                <a:solidFill>
                  <a:srgbClr val="586069"/>
                </a:solidFill>
              </a:defRPr>
            </a:pPr>
            <a:r>
              <a:t>Recommendation match</a:t>
            </a:r>
          </a:p>
          <a:p>
            <a:pPr>
              <a:defRPr sz="1000">
                <a:solidFill>
                  <a:srgbClr val="586069"/>
                </a:solidFill>
              </a:defRPr>
            </a:pPr>
            <a:r>
              <a:t>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49039"/>
            <a:ext cx="30175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0</a:t>
            </a:r>
          </a:p>
          <a:p>
            <a:pPr>
              <a:defRPr sz="1100">
                <a:solidFill>
                  <a:srgbClr val="586069"/>
                </a:solidFill>
              </a:defRPr>
            </a:pPr>
            <a:r>
              <a:t>Safety violations</a:t>
            </a:r>
          </a:p>
          <a:p>
            <a:pPr>
              <a:defRPr sz="1000">
                <a:solidFill>
                  <a:srgbClr val="586069"/>
                </a:solidFill>
              </a:defRPr>
            </a:pPr>
            <a:r>
              <a:t>No forbidden approval/decline/payment wording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3749039"/>
            <a:ext cx="3017520" cy="1554480"/>
          </a:xfrm>
          <a:prstGeom prst="rect">
            <a:avLst/>
          </a:prstGeom>
          <a:solidFill>
            <a:srgbClr val="F5F7FA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5 / 5</a:t>
            </a:r>
          </a:p>
          <a:p>
            <a:pPr>
              <a:defRPr sz="1100">
                <a:solidFill>
                  <a:srgbClr val="586069"/>
                </a:solidFill>
              </a:defRPr>
            </a:pPr>
            <a:r>
              <a:t>Claims fully passed</a:t>
            </a:r>
          </a:p>
          <a:p>
            <a:pPr>
              <a:defRPr sz="1000">
                <a:solidFill>
                  <a:srgbClr val="586069"/>
                </a:solidFill>
              </a:defRPr>
            </a:pPr>
            <a:r>
              <a:t>All use cases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Demo and rollout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How to present the solution confidently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C2245"/>
                </a:solidFill>
              </a:defRPr>
            </a:pPr>
            <a:r>
              <a:t>1. Walk through one clean claim and one tricky claim to show the evidence trail.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2. Highlight that every rule cites the source documents and policy sections.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3. Show the photo evidence contradicting a high estimate to demonstrate fraud indicator handling without alleging fraud.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4. Emphasize that the human handler remains the decision maker; the system only prepares, explains, and recommends.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5. Discuss how this reduces manual review time while improving consistency, auditability, and policy compliance.</a:t>
            </a:r>
          </a:p>
          <a:p>
            <a:pPr>
              <a:defRPr sz="1800">
                <a:solidFill>
                  <a:srgbClr val="0C2245"/>
                </a:solidFill>
              </a:defRPr>
            </a:pPr>
            <a:r>
              <a:t>6. Recommended next step: expand to production data, role-based access, and more policy corpora.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245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Contoso Insurance claims automation with audit-ready evidence and a human-safe decision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0"/>
            <a:ext cx="9509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C2245"/>
                </a:solidFill>
              </a:defRPr>
            </a:pPr>
            <a:r>
              <a:t>Key message: evidence -&gt; extraction -&gt; rules -&gt; grounded reasoning -&gt; handler decision</a:t>
            </a:r>
          </a:p>
          <a:p>
            <a:pPr algn="ctr">
              <a:defRPr sz="2000">
                <a:solidFill>
                  <a:srgbClr val="0C2245"/>
                </a:solidFill>
              </a:defRPr>
            </a:pPr>
            <a:r>
              <a:t>Result: all five sample claims pass in the lab, with no safety violations and full policy alignment</a:t>
            </a:r>
          </a:p>
          <a:p>
            <a:pPr algn="ctr">
              <a:defRPr sz="2000">
                <a:solidFill>
                  <a:srgbClr val="0C2245"/>
                </a:solidFill>
              </a:defRPr>
            </a:pPr>
            <a:r>
              <a:t>Contact: Claims automation team | Microsoft FDE / Wipro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