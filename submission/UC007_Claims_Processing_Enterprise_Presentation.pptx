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1"/>
    <p:sldId id="263" r:id="rId14"/>
    <p:sldId id="264" r:id="rId15"/>
    <p:sldId id="265" r:id="rId16"/>
    <p:sldId id="266" r:id="rId17"/>
    <p:sldId id="268" r:id="rId19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13232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74CFCC"/>
                </a:solidFill>
                <a:latin typeface="Aptos"/>
              </a:defRPr>
            </a:pPr>
            <a:r>
              <a:t>UC007  /  MICROSOFT FDE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07592"/>
            <a:ext cx="1024128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AI-assisted motor</a:t>
            </a:r>
            <a:br/>
            <a:r>
              <a:t>claims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852928"/>
            <a:ext cx="88696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0">
                <a:solidFill>
                  <a:srgbClr val="D8E5EC"/>
                </a:solidFill>
                <a:latin typeface="Aptos"/>
              </a:defRPr>
            </a:pPr>
            <a:r>
              <a:t>Evidence in. Explainable preparation out.</a:t>
            </a:r>
            <a:br/>
            <a:r>
              <a:t>A human handler remains accountable.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3950208"/>
            <a:ext cx="7168895" cy="0"/>
          </a:xfrm>
          <a:prstGeom prst="line">
            <a:avLst/>
          </a:prstGeom>
          <a:ln w="13970">
            <a:solidFill>
              <a:srgbClr val="4C6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" y="4224528"/>
            <a:ext cx="4114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CONTOSO CLAIMS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590288"/>
            <a:ext cx="5760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BCCFDA"/>
                </a:solidFill>
                <a:latin typeface="Aptos"/>
              </a:defRPr>
            </a:pPr>
            <a:r>
              <a:t>Capstone project presentation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212080"/>
            <a:ext cx="7589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BCCFDA"/>
                </a:solidFill>
                <a:latin typeface="Aptos"/>
              </a:defRPr>
            </a:pPr>
            <a:r>
              <a:t>Manoj Deepak  |  FDE user 42  |  bolleddu.deepak@wipro.com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316736"/>
            <a:ext cx="2286000" cy="3401568"/>
          </a:xfrm>
          <a:prstGeom prst="rect">
            <a:avLst/>
          </a:prstGeom>
          <a:solidFill>
            <a:srgbClr val="1D435B"/>
          </a:solidFill>
          <a:ln w="10160">
            <a:solidFill>
              <a:srgbClr val="3F6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1627632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74CFCC"/>
                </a:solidFill>
                <a:latin typeface="Aptos"/>
              </a:defRPr>
            </a:pPr>
            <a:r>
              <a:t>THE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2148840"/>
            <a:ext cx="1755648" cy="1554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Prepare</a:t>
            </a:r>
            <a:br/>
            <a:r>
              <a:t>Explain</a:t>
            </a:r>
            <a:br/>
            <a:r>
              <a:t>Recommend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79408" y="3895344"/>
            <a:ext cx="1719072" cy="0"/>
          </a:xfrm>
          <a:prstGeom prst="line">
            <a:avLst/>
          </a:prstGeom>
          <a:ln w="13970">
            <a:solidFill>
              <a:srgbClr val="3F6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79408" y="4087368"/>
            <a:ext cx="178308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Human decides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405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C3D3DE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C3D3D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Aptos Display"/>
              </a:defRPr>
            </a:pPr>
            <a:r>
              <a:t>Executive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36778"/>
                </a:solidFill>
                <a:latin typeface="Aptos"/>
              </a:defRPr>
            </a:pPr>
            <a:r>
              <a:t>A focused capstone prototype for evidence-heavy motor-claim preparation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36778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5367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874519"/>
            <a:ext cx="1700784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700784" cy="64008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48840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087E8B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70048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Synthetic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26664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Normal, missing, conflict, policy,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9232" y="1874519"/>
            <a:ext cx="1700784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9232" y="1874519"/>
            <a:ext cx="1700784" cy="64008"/>
          </a:xfrm>
          <a:prstGeom prst="rect">
            <a:avLst/>
          </a:prstGeom>
          <a:solidFill>
            <a:srgbClr val="22679B"/>
          </a:solidFill>
          <a:ln w="10160">
            <a:solidFill>
              <a:srgbClr val="226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148840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22679B"/>
                </a:solidFill>
                <a:latin typeface="Aptos Display"/>
              </a:defRPr>
            </a:pPr>
            <a:r>
              <a:t>45/45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670048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Extraction 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26664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Reported sample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8656" y="1874519"/>
            <a:ext cx="1700784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48656" y="1874519"/>
            <a:ext cx="1700784" cy="64008"/>
          </a:xfrm>
          <a:prstGeom prst="rect">
            <a:avLst/>
          </a:prstGeom>
          <a:solidFill>
            <a:srgbClr val="287D65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2148840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287D65"/>
                </a:solidFill>
                <a:latin typeface="Aptos Display"/>
              </a:defRPr>
            </a:pPr>
            <a:r>
              <a:t>11/11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670048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Expected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026664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Zero spurious distinct codes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874519"/>
            <a:ext cx="1700784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874519"/>
            <a:ext cx="1700784" cy="64008"/>
          </a:xfrm>
          <a:prstGeom prst="rect">
            <a:avLst/>
          </a:prstGeom>
          <a:solidFill>
            <a:srgbClr val="C48024"/>
          </a:solidFill>
          <a:ln w="1016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7" y="2148840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C48024"/>
                </a:solidFill>
                <a:latin typeface="Aptos Display"/>
              </a:defRPr>
            </a:pPr>
            <a:r>
              <a:t>5/5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2670048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7" y="3026664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Agent and rules match expected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47504" y="1874519"/>
            <a:ext cx="1700784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47504" y="1874519"/>
            <a:ext cx="1700784" cy="64008"/>
          </a:xfrm>
          <a:prstGeom prst="rect">
            <a:avLst/>
          </a:prstGeom>
          <a:solidFill>
            <a:srgbClr val="AE4942"/>
          </a:solidFill>
          <a:ln w="10160">
            <a:solidFill>
              <a:srgbClr val="AE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7232" y="2148840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AE4942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2670048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Safety phrases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3026664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Reported evaluator violations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343400"/>
            <a:ext cx="10424160" cy="749808"/>
          </a:xfrm>
          <a:prstGeom prst="rect">
            <a:avLst/>
          </a:prstGeom>
          <a:solidFill>
            <a:srgbClr val="FAF3E5"/>
          </a:solidFill>
          <a:ln w="1016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507992"/>
            <a:ext cx="10058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Aptos"/>
              </a:defRPr>
            </a:pPr>
            <a:r>
              <a:t>Reported prior results; raw `out/` JSON is absent from this checkout, so the run could not be replayed.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394960"/>
            <a:ext cx="10241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536778"/>
                </a:solidFill>
                <a:latin typeface="Aptos"/>
              </a:defRPr>
            </a:pPr>
            <a:r>
              <a:t>Five synthetic scenarios demonstrate workflow behavior, not production accuracy or business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Aptos Display"/>
              </a:defRPr>
            </a:pPr>
            <a:r>
              <a:t>End-to-end preparation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36778"/>
                </a:solidFill>
                <a:latin typeface="Aptos"/>
              </a:defRPr>
            </a:pPr>
            <a:r>
              <a:t>The pipeline turns a claim folder into a human-review package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36778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5367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64008" cy="1417320"/>
          </a:xfrm>
          <a:prstGeom prst="rect">
            <a:avLst/>
          </a:prstGeom>
          <a:solidFill>
            <a:srgbClr val="22679B"/>
          </a:solidFill>
          <a:ln w="10160">
            <a:solidFill>
              <a:srgbClr val="226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267712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2679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57860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926080"/>
            <a:ext cx="129844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Files + inferred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76272" y="2852928"/>
            <a:ext cx="310896" cy="0"/>
          </a:xfrm>
          <a:prstGeom prst="line">
            <a:avLst/>
          </a:prstGeom>
          <a:ln w="13970">
            <a:solidFill>
              <a:srgbClr val="53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42032" y="2148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2148840"/>
            <a:ext cx="64008" cy="1417320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267712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087E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57860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926080"/>
            <a:ext cx="129844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Structured facts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3944" y="2852928"/>
            <a:ext cx="310896" cy="0"/>
          </a:xfrm>
          <a:prstGeom prst="line">
            <a:avLst/>
          </a:prstGeom>
          <a:ln w="13970">
            <a:solidFill>
              <a:srgbClr val="53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489704" y="2148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9704" y="2148840"/>
            <a:ext cx="64008" cy="1417320"/>
          </a:xfrm>
          <a:prstGeom prst="rect">
            <a:avLst/>
          </a:prstGeom>
          <a:solidFill>
            <a:srgbClr val="287D65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2267712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87D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257860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2926080"/>
            <a:ext cx="129844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Visible damage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71616" y="2852928"/>
            <a:ext cx="310896" cy="0"/>
          </a:xfrm>
          <a:prstGeom prst="line">
            <a:avLst/>
          </a:prstGeom>
          <a:ln w="13970">
            <a:solidFill>
              <a:srgbClr val="53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37376" y="2148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37376" y="2148840"/>
            <a:ext cx="64008" cy="1417320"/>
          </a:xfrm>
          <a:prstGeom prst="rect">
            <a:avLst/>
          </a:prstGeom>
          <a:solidFill>
            <a:srgbClr val="C48024"/>
          </a:solidFill>
          <a:ln w="1016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267712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C4802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57860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926080"/>
            <a:ext cx="129844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Rules + policy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19288" y="2852928"/>
            <a:ext cx="310895" cy="0"/>
          </a:xfrm>
          <a:prstGeom prst="line">
            <a:avLst/>
          </a:prstGeom>
          <a:ln w="13970">
            <a:solidFill>
              <a:srgbClr val="53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385048" y="2148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85048" y="2148840"/>
            <a:ext cx="64008" cy="1417320"/>
          </a:xfrm>
          <a:prstGeom prst="rect">
            <a:avLst/>
          </a:prstGeom>
          <a:solidFill>
            <a:srgbClr val="22679B"/>
          </a:solidFill>
          <a:ln w="10160">
            <a:solidFill>
              <a:srgbClr val="226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2267712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2679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2" y="257860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2926080"/>
            <a:ext cx="129844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Summary + next step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66960" y="2852928"/>
            <a:ext cx="310896" cy="0"/>
          </a:xfrm>
          <a:prstGeom prst="line">
            <a:avLst/>
          </a:prstGeom>
          <a:ln w="13970">
            <a:solidFill>
              <a:srgbClr val="53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0332720" y="2148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32720" y="2148840"/>
            <a:ext cx="64008" cy="1417320"/>
          </a:xfrm>
          <a:prstGeom prst="rect">
            <a:avLst/>
          </a:prstGeom>
          <a:solidFill>
            <a:srgbClr val="17324D"/>
          </a:solidFill>
          <a:ln w="1016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79024" y="2267712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7324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9024" y="257860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9024" y="2926080"/>
            <a:ext cx="129844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Named handler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251960"/>
            <a:ext cx="10698480" cy="685800"/>
          </a:xfrm>
          <a:prstGeom prst="rect">
            <a:avLst/>
          </a:prstGeom>
          <a:solidFill>
            <a:srgbClr val="E5F3F2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4416552"/>
            <a:ext cx="10332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Aptos"/>
              </a:defRPr>
            </a:pPr>
            <a:r>
              <a:t>Human gate: the workspace recommends a safe next step; authorised staff own the claim outcome.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230368"/>
            <a:ext cx="1051560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536778"/>
                </a:solidFill>
                <a:latin typeface="Aptos"/>
              </a:defRPr>
            </a:pPr>
            <a:r>
              <a:t>Azure Content Understanding  •  Azure OpenAI vision  •  Python rules  •  Azure AI Search / MCP  •  Azure Table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Aptos Display"/>
              </a:defRPr>
            </a:pPr>
            <a:r>
              <a:t>Policy and validation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36778"/>
                </a:solidFill>
                <a:latin typeface="Aptos"/>
              </a:defRPr>
            </a:pPr>
            <a:r>
              <a:t>Deterministic findings give handlers a reason to verify or escalate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36778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5367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19072"/>
            <a:ext cx="2121408" cy="557784"/>
          </a:xfrm>
          <a:prstGeom prst="rect">
            <a:avLst/>
          </a:prstGeom>
          <a:solidFill>
            <a:srgbClr val="17324D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1993391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719072"/>
            <a:ext cx="3886200" cy="557784"/>
          </a:xfrm>
          <a:prstGeom prst="rect">
            <a:avLst/>
          </a:prstGeom>
          <a:solidFill>
            <a:srgbClr val="17324D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7" y="1764792"/>
            <a:ext cx="375818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719072"/>
            <a:ext cx="4599432" cy="557784"/>
          </a:xfrm>
          <a:prstGeom prst="rect">
            <a:avLst/>
          </a:prstGeom>
          <a:solidFill>
            <a:srgbClr val="17324D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764792"/>
            <a:ext cx="4471416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Training reference /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276856"/>
            <a:ext cx="2121408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22575"/>
            <a:ext cx="1993391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Completeness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276856"/>
            <a:ext cx="3886200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8647" y="2322575"/>
            <a:ext cx="375818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Required document missing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276856"/>
            <a:ext cx="4599432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322575"/>
            <a:ext cx="4471416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CIP-CLM-200 §1 / request information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2834639"/>
            <a:ext cx="2121408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880359"/>
            <a:ext cx="1993391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39" y="2834639"/>
            <a:ext cx="38862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8647" y="2880359"/>
            <a:ext cx="375818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Date, VIN, plate, damage location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2834639"/>
            <a:ext cx="4599432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2880359"/>
            <a:ext cx="4471416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CIP-CLM-200 §2 / resolve or refer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3392424"/>
            <a:ext cx="2121408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438144"/>
            <a:ext cx="1993391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Coverage / authority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39" y="3392424"/>
            <a:ext cx="3886200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98647" y="3438144"/>
            <a:ext cx="375818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Loss before cover; estimate over 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3392424"/>
            <a:ext cx="4599432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3438144"/>
            <a:ext cx="4471416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CIP-POL-100 §1.1; CIP-CLM-200 §3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3950208"/>
            <a:ext cx="2121408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995928"/>
            <a:ext cx="1993391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Estimate evidence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39" y="3950208"/>
            <a:ext cx="38862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98647" y="3995928"/>
            <a:ext cx="375818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Cost above photo band + tolerance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3950208"/>
            <a:ext cx="4599432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3995928"/>
            <a:ext cx="4471416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CIP-CLM-220 §4 / line-item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4507992"/>
            <a:ext cx="2121408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553712"/>
            <a:ext cx="1993391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Pattern / circumstance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39" y="4507992"/>
            <a:ext cx="3886200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98647" y="4553712"/>
            <a:ext cx="375818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Repairer, frequency, unattended vehicle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4507992"/>
            <a:ext cx="4599432" cy="557784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4553712"/>
            <a:ext cx="4471416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CIP-CLM-210 §§2–4 / indicator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5065776"/>
            <a:ext cx="2121408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111496"/>
            <a:ext cx="1993391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Extraction quality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39" y="5065776"/>
            <a:ext cx="38862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98647" y="5111496"/>
            <a:ext cx="375818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Low-confidence value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5065776"/>
            <a:ext cx="4599432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5111496"/>
            <a:ext cx="4471416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Handler verification; informational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779008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Fictional policy corpus. Rule mapping and loss-type normalization need broader coverage before production.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Aptos Display"/>
              </a:defRPr>
            </a:pPr>
            <a:r>
              <a:t>Recommendation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36778"/>
                </a:solidFill>
                <a:latin typeface="Aptos"/>
              </a:defRPr>
            </a:pPr>
            <a:r>
              <a:t>Three workflow steps; no final claim outcome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36778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5367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847088"/>
            <a:ext cx="3255264" cy="1737360"/>
          </a:xfrm>
          <a:prstGeom prst="rect">
            <a:avLst/>
          </a:prstGeom>
          <a:solidFill>
            <a:srgbClr val="E5F3F2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87D65"/>
                </a:solidFill>
                <a:latin typeface="Aptos"/>
              </a:defRPr>
            </a:pPr>
            <a:r>
              <a:t>PROCEED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No higher-priority finding blocks routine preparation. Human review still applies.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847088"/>
            <a:ext cx="3255264" cy="1737360"/>
          </a:xfrm>
          <a:prstGeom prst="rect">
            <a:avLst/>
          </a:prstGeom>
          <a:solidFill>
            <a:srgbClr val="FAF3E5"/>
          </a:solidFill>
          <a:ln w="1016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03911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C48024"/>
                </a:solidFill>
                <a:latin typeface="Aptos"/>
              </a:defRPr>
            </a:pPr>
            <a:r>
              <a:t>REQUEST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51460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Evidence is missing or a resolvable discrepancy needs follow-up.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47088"/>
            <a:ext cx="3255264" cy="1737360"/>
          </a:xfrm>
          <a:prstGeom prst="rect">
            <a:avLst/>
          </a:prstGeom>
          <a:solidFill>
            <a:srgbClr val="F8EDEB"/>
          </a:solidFill>
          <a:ln w="10160">
            <a:solidFill>
              <a:srgbClr val="AE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03911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AE4942"/>
                </a:solidFill>
                <a:latin typeface="Aptos"/>
              </a:defRPr>
            </a:pPr>
            <a:r>
              <a:t>REFER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51460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A policy, authority, damage, repairer, frequency, or circumstance indicator needs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041648"/>
            <a:ext cx="10515600" cy="694944"/>
          </a:xfrm>
          <a:prstGeom prst="rect">
            <a:avLst/>
          </a:prstGeom>
          <a:solidFill>
            <a:srgbClr val="17324D"/>
          </a:solidFill>
          <a:ln w="1016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10149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Accept / amend / reject refers to the preparation package, not acceptance or rejection of the claim.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84064"/>
            <a:ext cx="1024128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36778"/>
                </a:solidFill>
                <a:latin typeface="Aptos"/>
              </a:defRPr>
            </a:pPr>
            <a:r>
              <a:t>Rule and agent recommendations are evaluated separately; the handler remains accountable.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Aptos Display"/>
              </a:defRPr>
            </a:pPr>
            <a:r>
              <a:t>Five scenarios, one operating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36778"/>
                </a:solidFill>
                <a:latin typeface="Aptos"/>
              </a:defRPr>
            </a:pPr>
            <a:r>
              <a:t>Synthetic examples cover routine preparation and exceptions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36778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5367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1097280" cy="594360"/>
          </a:xfrm>
          <a:prstGeom prst="rect">
            <a:avLst/>
          </a:prstGeom>
          <a:solidFill>
            <a:srgbClr val="17324D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01368"/>
            <a:ext cx="969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Claim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755648"/>
            <a:ext cx="2468880" cy="594360"/>
          </a:xfrm>
          <a:prstGeom prst="rect">
            <a:avLst/>
          </a:prstGeom>
          <a:solidFill>
            <a:srgbClr val="17324D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7" y="1801368"/>
            <a:ext cx="23408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55648"/>
            <a:ext cx="5669280" cy="594360"/>
          </a:xfrm>
          <a:prstGeom prst="rect">
            <a:avLst/>
          </a:prstGeom>
          <a:solidFill>
            <a:srgbClr val="17324D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801368"/>
            <a:ext cx="5541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Primary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1755648"/>
            <a:ext cx="1645920" cy="594360"/>
          </a:xfrm>
          <a:prstGeom prst="rect">
            <a:avLst/>
          </a:prstGeom>
          <a:solidFill>
            <a:srgbClr val="17324D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30968" y="1801368"/>
            <a:ext cx="151790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0008"/>
            <a:ext cx="10972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395727"/>
            <a:ext cx="969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0431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350008"/>
            <a:ext cx="24688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2395727"/>
            <a:ext cx="23408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350008"/>
            <a:ext cx="56692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2395727"/>
            <a:ext cx="5541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Baseline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2350008"/>
            <a:ext cx="164592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8" y="2395727"/>
            <a:ext cx="151790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Proceed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944368"/>
            <a:ext cx="10972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2990087"/>
            <a:ext cx="969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0432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2944368"/>
            <a:ext cx="24688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92807" y="2990087"/>
            <a:ext cx="23408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Missing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944368"/>
            <a:ext cx="56692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2990087"/>
            <a:ext cx="5541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Required items absent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2944368"/>
            <a:ext cx="16459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30968" y="2990087"/>
            <a:ext cx="151790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Request info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538728"/>
            <a:ext cx="10972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584448"/>
            <a:ext cx="969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0433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3538728"/>
            <a:ext cx="24688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92807" y="3584448"/>
            <a:ext cx="23408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Inconsistency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538728"/>
            <a:ext cx="56692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3584448"/>
            <a:ext cx="5541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Date, VIN, damage area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3538728"/>
            <a:ext cx="164592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30968" y="3584448"/>
            <a:ext cx="151790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Refer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133087"/>
            <a:ext cx="10972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4178807"/>
            <a:ext cx="969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0434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133087"/>
            <a:ext cx="24688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7" y="4178807"/>
            <a:ext cx="23408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Policy / authority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4133087"/>
            <a:ext cx="56692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1688" y="4178807"/>
            <a:ext cx="5541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Loss before cover; &gt; $5,000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66960" y="4133087"/>
            <a:ext cx="16459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30968" y="4178807"/>
            <a:ext cx="151790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Refer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727448"/>
            <a:ext cx="10972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8" y="4773168"/>
            <a:ext cx="969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1">
                <a:solidFill>
                  <a:srgbClr val="17324D"/>
                </a:solidFill>
                <a:latin typeface="Aptos"/>
              </a:defRPr>
            </a:pPr>
            <a:r>
              <a:t>0435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4727448"/>
            <a:ext cx="24688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92807" y="4773168"/>
            <a:ext cx="23408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Risk indicators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4727448"/>
            <a:ext cx="566928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61688" y="4773168"/>
            <a:ext cx="554126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$6,940 vs light scuff; pattern signals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4727448"/>
            <a:ext cx="1645920" cy="59436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30968" y="4773168"/>
            <a:ext cx="1517904" cy="5212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900" b="0">
                <a:solidFill>
                  <a:srgbClr val="17324D"/>
                </a:solidFill>
                <a:latin typeface="Aptos"/>
              </a:defRPr>
            </a:pPr>
            <a:r>
              <a:t>Refer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669280"/>
            <a:ext cx="104241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AE4942"/>
                </a:solidFill>
                <a:latin typeface="Aptos"/>
              </a:defRPr>
            </a:pPr>
            <a:r>
              <a:t>An indicator is a reason to look more closely, never a conclusion that fraud occurred.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Aptos Display"/>
              </a:defRPr>
            </a:pPr>
            <a:r>
              <a:t>Handler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36778"/>
                </a:solidFill>
                <a:latin typeface="Aptos"/>
              </a:defRPr>
            </a:pPr>
            <a:r>
              <a:t>Queue context and case detail share one review surface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36778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5367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3794760" cy="3520440"/>
          </a:xfrm>
          <a:prstGeom prst="rect">
            <a:avLst/>
          </a:prstGeom>
          <a:solidFill>
            <a:srgbClr val="EFF5F7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75104"/>
            <a:ext cx="3291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087E8B"/>
                </a:solidFill>
                <a:latin typeface="Aptos"/>
              </a:defRPr>
            </a:pPr>
            <a:r>
              <a:t>QUEUE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87168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7324D"/>
                </a:solidFill>
                <a:latin typeface="Aptos"/>
              </a:defRPr>
            </a:pPr>
            <a:r>
              <a:t>Queue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487168"/>
            <a:ext cx="16824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processed + elapsed 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" y="2898648"/>
            <a:ext cx="3328416" cy="0"/>
          </a:xfrm>
          <a:prstGeom prst="line">
            <a:avLst/>
          </a:prstGeom>
          <a:ln w="1397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9264" y="3081528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7324D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081528"/>
            <a:ext cx="16824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proceed / request / refer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6" y="3493008"/>
            <a:ext cx="3328416" cy="0"/>
          </a:xfrm>
          <a:prstGeom prst="line">
            <a:avLst/>
          </a:prstGeom>
          <a:ln w="1397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9264" y="3675888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7324D"/>
                </a:solidFill>
                <a:latin typeface="Aptos"/>
              </a:defRPr>
            </a:pPr>
            <a:r>
              <a:t>Finding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3675888"/>
            <a:ext cx="16824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common codes + missing files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976" y="4087368"/>
            <a:ext cx="3328416" cy="0"/>
          </a:xfrm>
          <a:prstGeom prst="line">
            <a:avLst/>
          </a:prstGeom>
          <a:ln w="1397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9264" y="4270248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7324D"/>
                </a:solidFill>
                <a:latin typeface="Aptos"/>
              </a:defRPr>
            </a:pPr>
            <a:r>
              <a:t>Estimate bands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4270248"/>
            <a:ext cx="16824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claim-linked cohorts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976" y="4681728"/>
            <a:ext cx="3328416" cy="0"/>
          </a:xfrm>
          <a:prstGeom prst="line">
            <a:avLst/>
          </a:prstGeom>
          <a:ln w="1397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01184" y="1755648"/>
            <a:ext cx="65379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4648" y="1975104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087E8B"/>
                </a:solidFill>
                <a:latin typeface="Aptos"/>
              </a:defRPr>
            </a:pPr>
            <a:r>
              <a:t>CLAIM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2450592"/>
            <a:ext cx="5760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Aptos"/>
              </a:defRPr>
            </a:pPr>
            <a:r>
              <a:t>Cross-claim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2852928"/>
            <a:ext cx="58064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36778"/>
                </a:solidFill>
                <a:latin typeface="Aptos"/>
              </a:defRPr>
            </a:pPr>
            <a:r>
              <a:t>Apex Collision Center appears on three dated claim references in the supplied history. The dashboard links the pattern to its source claim.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93792" y="3584448"/>
            <a:ext cx="5961888" cy="0"/>
          </a:xfrm>
          <a:prstGeom prst="line">
            <a:avLst/>
          </a:prstGeom>
          <a:ln w="1397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93792" y="3794760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087E8B"/>
                </a:solidFill>
                <a:latin typeface="Aptos"/>
              </a:defRPr>
            </a:pPr>
            <a:r>
              <a:t>NAMED HANDLER 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4288536"/>
            <a:ext cx="1828800" cy="438912"/>
          </a:xfrm>
          <a:prstGeom prst="rect">
            <a:avLst/>
          </a:prstGeom>
          <a:solidFill>
            <a:srgbClr val="E8F1F7"/>
          </a:solidFill>
          <a:ln w="10160">
            <a:solidFill>
              <a:srgbClr val="226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4407408"/>
            <a:ext cx="1737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00" b="1">
                <a:solidFill>
                  <a:srgbClr val="17324D"/>
                </a:solidFill>
                <a:latin typeface="Aptos"/>
              </a:defRPr>
            </a:pPr>
            <a:r>
              <a:t>Accept preparation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5472" y="4288536"/>
            <a:ext cx="1828800" cy="438912"/>
          </a:xfrm>
          <a:prstGeom prst="rect">
            <a:avLst/>
          </a:prstGeom>
          <a:solidFill>
            <a:srgbClr val="E8F1F7"/>
          </a:solidFill>
          <a:ln w="10160">
            <a:solidFill>
              <a:srgbClr val="226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51192" y="4407408"/>
            <a:ext cx="1737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00" b="1">
                <a:solidFill>
                  <a:srgbClr val="17324D"/>
                </a:solidFill>
                <a:latin typeface="Aptos"/>
              </a:defRPr>
            </a:pPr>
            <a:r>
              <a:t>Accept with amendments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98864" y="4288536"/>
            <a:ext cx="1828800" cy="438912"/>
          </a:xfrm>
          <a:prstGeom prst="rect">
            <a:avLst/>
          </a:prstGeom>
          <a:solidFill>
            <a:srgbClr val="E8F1F7"/>
          </a:solidFill>
          <a:ln w="10160">
            <a:solidFill>
              <a:srgbClr val="226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4407408"/>
            <a:ext cx="1737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00" b="1">
                <a:solidFill>
                  <a:srgbClr val="17324D"/>
                </a:solidFill>
                <a:latin typeface="Aptos"/>
              </a:defRPr>
            </a:pPr>
            <a:r>
              <a:t>Reject preparation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559552"/>
            <a:ext cx="10424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36778"/>
                </a:solidFill>
                <a:latin typeface="Aptos"/>
              </a:defRPr>
            </a:pPr>
            <a:r>
              <a:t>Schematic from source code; not a screenshot from an authenticated production environment.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Aptos Display"/>
              </a:defRPr>
            </a:pPr>
            <a:r>
              <a:t>Evaluation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36778"/>
                </a:solidFill>
                <a:latin typeface="Aptos"/>
              </a:defRPr>
            </a:pPr>
            <a:r>
              <a:t>Reported baseline against five synthetic ground-truth claims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36778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53677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1874519"/>
            <a:ext cx="170992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1874519"/>
            <a:ext cx="1709928" cy="64008"/>
          </a:xfrm>
          <a:prstGeom prst="rect">
            <a:avLst/>
          </a:prstGeom>
          <a:solidFill>
            <a:srgbClr val="22679B"/>
          </a:solidFill>
          <a:ln w="10160">
            <a:solidFill>
              <a:srgbClr val="226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39696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22679B"/>
                </a:solidFill>
                <a:latin typeface="Aptos Display"/>
              </a:defRPr>
            </a:pPr>
            <a:r>
              <a:t>45 / 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60903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Mapped fields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8376" y="1874519"/>
            <a:ext cx="170992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08376" y="1874519"/>
            <a:ext cx="1709928" cy="64008"/>
          </a:xfrm>
          <a:prstGeom prst="rect">
            <a:avLst/>
          </a:prstGeom>
          <a:solidFill>
            <a:srgbClr val="287D65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2139696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287D65"/>
                </a:solidFill>
                <a:latin typeface="Aptos Display"/>
              </a:defRPr>
            </a:pPr>
            <a:r>
              <a:t>11 /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2660903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017520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Zero spurious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874519"/>
            <a:ext cx="170992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1874519"/>
            <a:ext cx="1709928" cy="64008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139696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087E8B"/>
                </a:solidFill>
                <a:latin typeface="Aptos Display"/>
              </a:defRPr>
            </a:pPr>
            <a:r>
              <a:t>5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2660903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017520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Agent + 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7224" y="1874519"/>
            <a:ext cx="170992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7224" y="1874519"/>
            <a:ext cx="1709928" cy="64008"/>
          </a:xfrm>
          <a:prstGeom prst="rect">
            <a:avLst/>
          </a:prstGeom>
          <a:solidFill>
            <a:srgbClr val="C48024"/>
          </a:solidFill>
          <a:ln w="1016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6952" y="2139696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C48024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2660903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Safety violations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3017520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Configured scan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56648" y="1874519"/>
            <a:ext cx="170992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56648" y="1874519"/>
            <a:ext cx="1709928" cy="64008"/>
          </a:xfrm>
          <a:prstGeom prst="rect">
            <a:avLst/>
          </a:prstGeom>
          <a:solidFill>
            <a:srgbClr val="17324D"/>
          </a:solidFill>
          <a:ln w="1016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6376" y="2139696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5 /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6" y="2660903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Aptos"/>
              </a:defRPr>
            </a:pPr>
            <a:r>
              <a:t>Claims passed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6376" y="3017520"/>
            <a:ext cx="1481328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36778"/>
                </a:solidFill>
                <a:latin typeface="Aptos"/>
              </a:defRPr>
            </a:pPr>
            <a:r>
              <a:t>All conditions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315968"/>
            <a:ext cx="10424160" cy="749808"/>
          </a:xfrm>
          <a:prstGeom prst="rect">
            <a:avLst/>
          </a:prstGeom>
          <a:solidFill>
            <a:srgbClr val="FAF3E5"/>
          </a:solidFill>
          <a:ln w="1016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480560"/>
            <a:ext cx="10058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Aptos"/>
              </a:defRPr>
            </a:pPr>
            <a:r>
              <a:t>Prior submission metrics; `out/` JSON is not present in this checkout, so they could not be replayed.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358384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36778"/>
                </a:solidFill>
                <a:latin typeface="Aptos"/>
              </a:defRPr>
            </a:pPr>
            <a:r>
              <a:t>Regression evidence only: no production accuracy, fairness, or business-impact claim.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Aptos Display"/>
              </a:defRPr>
            </a:pPr>
            <a:r>
              <a:t>Responsible AI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36778"/>
                </a:solidFill>
                <a:latin typeface="Aptos"/>
              </a:defRPr>
            </a:pPr>
            <a:r>
              <a:t>Useful prototype controls; enterprise assurance is still required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36778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5367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87D65"/>
                </a:solidFill>
                <a:latin typeface="Aptos"/>
              </a:defRPr>
            </a:pPr>
            <a:r>
              <a:t>IN THE PROTOTYPE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203703"/>
            <a:ext cx="73152" cy="73152"/>
          </a:xfrm>
          <a:prstGeom prst="rect">
            <a:avLst/>
          </a:prstGeom>
          <a:solidFill>
            <a:srgbClr val="287D65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21408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Structured response schema and recommendation enum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715768"/>
            <a:ext cx="73152" cy="73152"/>
          </a:xfrm>
          <a:prstGeom prst="rect">
            <a:avLst/>
          </a:prstGeom>
          <a:solidFill>
            <a:srgbClr val="287D65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33472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Instructions prohibit claim outcome and fraud conclusions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227832"/>
            <a:ext cx="73152" cy="73152"/>
          </a:xfrm>
          <a:prstGeom prst="rect">
            <a:avLst/>
          </a:prstGeom>
          <a:solidFill>
            <a:srgbClr val="287D65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145536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Rule findings identify document and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39896"/>
            <a:ext cx="73152" cy="73152"/>
          </a:xfrm>
          <a:prstGeom prst="rect">
            <a:avLst/>
          </a:prstGeom>
          <a:solidFill>
            <a:srgbClr val="287D65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57600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Named handler action with optional 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251960"/>
            <a:ext cx="73152" cy="73152"/>
          </a:xfrm>
          <a:prstGeom prst="rect">
            <a:avLst/>
          </a:prstGeom>
          <a:solidFill>
            <a:srgbClr val="287D65"/>
          </a:solidFill>
          <a:ln w="10160">
            <a:solidFill>
              <a:srgbClr val="28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169664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Fictional training data and policy corpus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1737360"/>
            <a:ext cx="0" cy="3200400"/>
          </a:xfrm>
          <a:prstGeom prst="line">
            <a:avLst/>
          </a:prstGeom>
          <a:ln w="1397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55080" y="1737360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AE4942"/>
                </a:solidFill>
                <a:latin typeface="Aptos"/>
              </a:defRPr>
            </a:pPr>
            <a:r>
              <a:t>BEFORE REAL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2203703"/>
            <a:ext cx="73152" cy="73152"/>
          </a:xfrm>
          <a:prstGeom prst="rect">
            <a:avLst/>
          </a:prstGeom>
          <a:solidFill>
            <a:srgbClr val="AE4942"/>
          </a:solidFill>
          <a:ln w="10160">
            <a:solidFill>
              <a:srgbClr val="AE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121408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End-user identity, roles, claim authorization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2715768"/>
            <a:ext cx="73152" cy="73152"/>
          </a:xfrm>
          <a:prstGeom prst="rect">
            <a:avLst/>
          </a:prstGeom>
          <a:solidFill>
            <a:srgbClr val="AE4942"/>
          </a:solidFill>
          <a:ln w="10160">
            <a:solidFill>
              <a:srgbClr val="AE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633472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Managed identity, least privilege, private networking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3227832"/>
            <a:ext cx="73152" cy="73152"/>
          </a:xfrm>
          <a:prstGeom prst="rect">
            <a:avLst/>
          </a:prstGeom>
          <a:solidFill>
            <a:srgbClr val="AE4942"/>
          </a:solidFill>
          <a:ln w="10160">
            <a:solidFill>
              <a:srgbClr val="AE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145536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Privacy, retention, encryption, audit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3739896"/>
            <a:ext cx="73152" cy="73152"/>
          </a:xfrm>
          <a:prstGeom prst="rect">
            <a:avLst/>
          </a:prstGeom>
          <a:solidFill>
            <a:srgbClr val="AE4942"/>
          </a:solidFill>
          <a:ln w="10160">
            <a:solidFill>
              <a:srgbClr val="AE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657600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Prompt-injection, fairness, robustness 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4251960"/>
            <a:ext cx="73152" cy="73152"/>
          </a:xfrm>
          <a:prstGeom prst="rect">
            <a:avLst/>
          </a:prstGeom>
          <a:solidFill>
            <a:srgbClr val="AE4942"/>
          </a:solidFill>
          <a:ln w="10160">
            <a:solidFill>
              <a:srgbClr val="AE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4169664"/>
            <a:ext cx="45720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Human escalation ownership and procedures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1248" y="4919472"/>
            <a:ext cx="10405872" cy="0"/>
          </a:xfrm>
          <a:prstGeom prst="line">
            <a:avLst/>
          </a:prstGeom>
          <a:ln w="13970">
            <a:solidFill>
              <a:srgbClr val="CD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" y="5047488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87E8B"/>
                </a:solidFill>
                <a:latin typeface="Aptos"/>
              </a:defRPr>
            </a:pPr>
            <a:r>
              <a:t>DELIVERY GATES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94960"/>
            <a:ext cx="103327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Aptos"/>
              </a:defRPr>
            </a:pPr>
            <a:r>
              <a:t>1  Evidence quality     →     2  Secure foundation     →     3  Reliable operations     →     4  Controlled shadow-mode pilot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74CFCC"/>
                </a:solidFill>
                <a:latin typeface="Aptos"/>
              </a:defRPr>
            </a:pPr>
            <a: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100584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AI prepares the claim.</a:t>
            </a:r>
            <a:br/>
            <a:r>
              <a:t>People own the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200400"/>
            <a:ext cx="98755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D8E5EC"/>
                </a:solidFill>
                <a:latin typeface="Aptos"/>
              </a:defRPr>
            </a:pPr>
            <a:r>
              <a:t>The capstone demonstrates an evidence-led, policy-grounded review workflow and makes the production-readiness work explicit.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9536" y="4224528"/>
            <a:ext cx="7278624" cy="0"/>
          </a:xfrm>
          <a:prstGeom prst="line">
            <a:avLst/>
          </a:prstGeom>
          <a:ln w="13970">
            <a:solidFill>
              <a:srgbClr val="4C6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9536" y="4526280"/>
            <a:ext cx="8595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Questions  |  UC007 Claims Processing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5029200"/>
            <a:ext cx="94183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BCCFDA"/>
                </a:solidFill>
                <a:latin typeface="Aptos"/>
              </a:defRPr>
            </a:pPr>
            <a:r>
              <a:t>Contoso Insurance and all sample claims are fictional training materials.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405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53796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C3D3DE"/>
                </a:solidFill>
                <a:latin typeface="Aptos"/>
              </a:defRPr>
            </a:pPr>
            <a:r>
              <a:t>UC007  /  FICTIONAL TRAINING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C3D3D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UC007 AI-Assisted Motor Claims Review</dc:title>
  <dc:subject>Enterprise capstone presentation - 10 slides</dc:subject>
  <dc:creator>Manoj Deepak (FDE user 42) &lt;bolleddu.deepak@wipro.com&gt;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